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91" r:id="rId2"/>
    <p:sldId id="281" r:id="rId3"/>
    <p:sldId id="290" r:id="rId4"/>
    <p:sldId id="299" r:id="rId5"/>
    <p:sldId id="293" r:id="rId6"/>
    <p:sldId id="294" r:id="rId7"/>
    <p:sldId id="297" r:id="rId8"/>
    <p:sldId id="296" r:id="rId9"/>
    <p:sldId id="298" r:id="rId10"/>
    <p:sldId id="300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1CBD4-8ACA-F8B1-0314-E8348BC87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B8018B8-ECAA-178C-478A-FFDCF6E57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BF00A3C2-6EE8-F86E-8833-2DFD11F668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1AD5B84-5702-0B98-E382-3D1ADAD56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50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F649-47F5-A338-E960-F25CF807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DE488AA-DE99-B078-31AF-C093CD7F1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15A0850-8E2A-A048-4273-D851DC6B9F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63B81BF-AECF-DFC0-9836-DB4DC13D9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323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7D04A-2640-BCFA-BEB9-93CFA1C11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698FD96-FDDF-BA9F-8373-92A610DFF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30AAD8E-680B-8E10-0F51-3F147EB208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0F75285-D1BD-CEE2-3AB6-F5516EB24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667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A67B-5479-FBD7-4D0D-91DC00AC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D79B491-005D-DA69-73B5-3A462973A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0E726931-342D-7D04-55B6-209BE62CA7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3A2FAD5B-05D3-59F4-3D3A-C23982340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023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csrc.nist.gov/" TargetMode="External"/><Relationship Id="rId4" Type="http://schemas.openxmlformats.org/officeDocument/2006/relationships/hyperlink" Target="https://qiskit.org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89089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432685" y="376393"/>
            <a:ext cx="7326630" cy="72635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Amaravati Quantum Valley </a:t>
            </a:r>
            <a:b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Hackathon 2025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6611573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AQVH910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Random Number Generator for Secure Applications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&amp; Cybersecurity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C-27674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SKY HIGH CODERS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AEEB1-E7BA-82E6-83CB-25556EF81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1" t="20049" r="21889" b="12417"/>
          <a:stretch>
            <a:fillRect/>
          </a:stretch>
        </p:blipFill>
        <p:spPr>
          <a:xfrm>
            <a:off x="7918296" y="2369649"/>
            <a:ext cx="3416490" cy="3910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B7E12-24C5-0C70-AC91-944DA1AB2B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5C4B48-32BD-A975-7B60-F41EB4240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8F95B-1959-015C-AA1B-1B0A286DD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751F96-F8FB-AC29-AC4D-974554CDF09E}"/>
              </a:ext>
            </a:extLst>
          </p:cNvPr>
          <p:cNvSpPr txBox="1"/>
          <p:nvPr/>
        </p:nvSpPr>
        <p:spPr>
          <a:xfrm>
            <a:off x="329773" y="1203608"/>
            <a:ext cx="11641339" cy="498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Random Number Generator (QRNG) with Bias Reduction &amp; Randomness Testing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RNG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(Hadamard gates).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Von Neumann) to remove bias.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NIST-inspired statistical randomness tests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key generator (256-bit)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encryption.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visualization &amp; usability.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entropy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bias correction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suite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tool.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Ready for practical use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&amp; secure apps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3ACCF1-8C6C-1E5B-8DD6-E8632BBEC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775AA8-C5A3-29E7-870A-81E61FF286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91" t="17427" r="4673" b="16517"/>
          <a:stretch>
            <a:fillRect/>
          </a:stretch>
        </p:blipFill>
        <p:spPr>
          <a:xfrm>
            <a:off x="6941211" y="2359152"/>
            <a:ext cx="5250789" cy="3826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D3A41-DA02-7039-DCFD-C367F543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3C60507-6FD2-B492-83D1-529DE76D1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525" y="1344110"/>
            <a:ext cx="6611350" cy="138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Languages/Frameworks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 →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Python packages(NumPy, SciPy,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 →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React, Tailwind, Chart.js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F7548-99C2-9569-A59B-4B7FF304E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0640075-505D-0505-9B2A-141C84F76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048" y="2825638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F45559-32EC-F1C4-EB14-1CE9089C9588}"/>
              </a:ext>
            </a:extLst>
          </p:cNvPr>
          <p:cNvSpPr txBox="1"/>
          <p:nvPr/>
        </p:nvSpPr>
        <p:spPr>
          <a:xfrm>
            <a:off x="3048761" y="3172250"/>
            <a:ext cx="60944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Flow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EFA86-508B-A926-78BD-06EAF1D8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30D85F-9D26-D372-8775-8D7BF7EA0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A9DCC84-B1CC-B410-B2F9-2ECCFBCE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136" y="1192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ADVANTAGES &amp; DISADVANTAGES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F4D1-AE72-3367-3185-390510EC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6F23E66-05FC-18F5-C639-93B34463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8E64A2-AB94-F45A-13AF-074A100D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57354D-B214-13CB-3662-0FE703F155AC}"/>
              </a:ext>
            </a:extLst>
          </p:cNvPr>
          <p:cNvSpPr txBox="1"/>
          <p:nvPr/>
        </p:nvSpPr>
        <p:spPr>
          <a:xfrm>
            <a:off x="220888" y="1911402"/>
            <a:ext cx="54772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9881AD-1F99-6707-0262-C756619F766C}"/>
              </a:ext>
            </a:extLst>
          </p:cNvPr>
          <p:cNvSpPr txBox="1"/>
          <p:nvPr/>
        </p:nvSpPr>
        <p:spPr>
          <a:xfrm>
            <a:off x="6027328" y="1891925"/>
            <a:ext cx="54772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91AD9-481D-2FD0-72C6-0F2693417699}"/>
              </a:ext>
            </a:extLst>
          </p:cNvPr>
          <p:cNvSpPr txBox="1"/>
          <p:nvPr/>
        </p:nvSpPr>
        <p:spPr>
          <a:xfrm>
            <a:off x="609600" y="2492412"/>
            <a:ext cx="4794504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Truly random – cannot be predicted or reproduced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security – no algorithm, no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source – can integrate into any platform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Bias-free randomness for reliable results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Future-ready for AI, IoT, blockchain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A3CE9E-282C-88B4-02A1-A2A28E84BC26}"/>
              </a:ext>
            </a:extLst>
          </p:cNvPr>
          <p:cNvSpPr txBox="1"/>
          <p:nvPr/>
        </p:nvSpPr>
        <p:spPr>
          <a:xfrm>
            <a:off x="6412230" y="2543103"/>
            <a:ext cx="5558882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 to generate fully secure random numbers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depend on specialized quantum hardware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challenges for large-scale use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cost compared to free PRNGs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Still not widely standardized or adopted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5E5E3-AD3D-8DE0-4530-43A30E0C4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2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0066F5-EDE2-6F69-6A26-6FEC7B66E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43B6BC1-F638-A2B4-AF81-064CDABA8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86497"/>
            <a:ext cx="6249733" cy="530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 on simulators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Aer) or real IBMQ hardware.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Lightweight deployment (Python + Node).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Large bit generation → time-consuming.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Limited access to quantum hardware.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Statistical test false negatives.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efficient simulators for hackathon demo.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configurable sample sizes.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Apply extractor + multiple tests to ensure quality.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BFFD23-1AD6-E42C-E954-10523D83D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417" y="4397021"/>
            <a:ext cx="4220164" cy="16861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B647FF-D868-0E21-AE1B-E841FF4EB907}"/>
              </a:ext>
            </a:extLst>
          </p:cNvPr>
          <p:cNvSpPr txBox="1"/>
          <p:nvPr/>
        </p:nvSpPr>
        <p:spPr>
          <a:xfrm>
            <a:off x="6859333" y="1798849"/>
            <a:ext cx="4270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QRNG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3C053E-4A24-9146-E0D3-0A60A4BF005B}"/>
              </a:ext>
            </a:extLst>
          </p:cNvPr>
          <p:cNvSpPr txBox="1"/>
          <p:nvPr/>
        </p:nvSpPr>
        <p:spPr>
          <a:xfrm>
            <a:off x="6909417" y="3849624"/>
            <a:ext cx="42702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generated 256-bit key</a:t>
            </a:r>
            <a:endParaRPr lang="en-IN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EA6588-278E-B2C5-9DC2-8577E21BE8AB}"/>
              </a:ext>
            </a:extLst>
          </p:cNvPr>
          <p:cNvCxnSpPr/>
          <p:nvPr/>
        </p:nvCxnSpPr>
        <p:spPr>
          <a:xfrm>
            <a:off x="6693408" y="1095375"/>
            <a:ext cx="0" cy="51682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F45CF76-93A4-A792-141C-72C7D63A3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12C5A6-543A-2FAA-12DE-3171903CD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9417" y="2346246"/>
            <a:ext cx="5061695" cy="129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876C-4511-C633-ABA1-E871E202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B905EC4-9DB6-9FC8-A2DE-FA57AD9FB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89" y="1491803"/>
            <a:ext cx="6436788" cy="3874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Cybersecurity, FinTech, AI, Research.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randomness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stronger cryptography.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Users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 and test randomness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Can integrate into existing apps via API.</a:t>
            </a:r>
          </a:p>
          <a:p>
            <a:pPr lvl="1" defTabSz="914400" eaLnBrk="0" hangingPunct="0">
              <a:lnSpc>
                <a:spcPct val="150000"/>
              </a:lnSpc>
              <a:buFontTx/>
              <a:buChar char="•"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Educational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Teaches quantum randomness &amp; bias correction.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6BC61-5511-ED7A-1BFF-3122908CAC5F}"/>
              </a:ext>
            </a:extLst>
          </p:cNvPr>
          <p:cNvSpPr txBox="1"/>
          <p:nvPr/>
        </p:nvSpPr>
        <p:spPr>
          <a:xfrm>
            <a:off x="6769440" y="1468413"/>
            <a:ext cx="52637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screenshot of the application usage</a:t>
            </a:r>
            <a:endParaRPr lang="en-IN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DC7930-C60C-1D14-A03B-6C6C3EFA6ED3}"/>
              </a:ext>
            </a:extLst>
          </p:cNvPr>
          <p:cNvCxnSpPr/>
          <p:nvPr/>
        </p:nvCxnSpPr>
        <p:spPr>
          <a:xfrm>
            <a:off x="6611112" y="1143000"/>
            <a:ext cx="0" cy="5038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74D61F6-6383-7143-95CA-F80119FB6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2CBA10-D4DE-BB61-926C-2BCE459BBB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08" t="2411" r="6895" b="2474"/>
          <a:stretch>
            <a:fillRect/>
          </a:stretch>
        </p:blipFill>
        <p:spPr>
          <a:xfrm>
            <a:off x="6903722" y="1920017"/>
            <a:ext cx="4910324" cy="431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5C41-0984-1A3B-7BA2-14B1AD49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55421A-2CA3-0BC0-6B90-93C4D8C56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DF3071F-91AC-0F81-A5DE-B7DA01DA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057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WHAT THE GRAPH DESCRIBING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058FA-9424-980D-2A20-D7249B60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7F08B9-9512-06FE-3BB5-2A252D24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91BD6E-4FA7-0A9E-74FD-A21370D79E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DA602CC-540A-9FA0-0F01-FA51F1812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89" y="1534573"/>
            <a:ext cx="6436788" cy="378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is showing the “block frequency test” results.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randomness testing, your sequence of bits (like 010101...) is split into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fixed size (here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block_size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128 bits).</a:t>
            </a:r>
          </a:p>
          <a:p>
            <a:pPr marL="342900" indent="-342900" defTabSz="914400" eaLnBrk="0" hangingPunct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counts how many 1s and 0s appear.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computes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(ratio of 1s vs block size).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lphaL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block has exactly half 1s and half 0s, the balance is 0.5.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lphaL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it’s skewed more towards 1s, balance &gt; 0.5.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lphaL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it’s skewed more towards 0s, balance &lt; 0.5.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A9133-32C8-9C33-0D18-0621B0FA5E80}"/>
              </a:ext>
            </a:extLst>
          </p:cNvPr>
          <p:cNvSpPr txBox="1"/>
          <p:nvPr/>
        </p:nvSpPr>
        <p:spPr>
          <a:xfrm>
            <a:off x="6784299" y="1762941"/>
            <a:ext cx="52637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screenshot of the application usage</a:t>
            </a:r>
            <a:endParaRPr lang="en-IN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15F0A-F621-06B1-0526-7452BD98F39D}"/>
              </a:ext>
            </a:extLst>
          </p:cNvPr>
          <p:cNvCxnSpPr/>
          <p:nvPr/>
        </p:nvCxnSpPr>
        <p:spPr>
          <a:xfrm>
            <a:off x="6611112" y="1143000"/>
            <a:ext cx="0" cy="5038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8B1B7EC-C667-D821-35D1-BB3E3EA4B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803454-FB5D-541C-7777-499564417D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79" t="27351" r="8758" b="40400"/>
          <a:stretch>
            <a:fillRect/>
          </a:stretch>
        </p:blipFill>
        <p:spPr>
          <a:xfrm>
            <a:off x="6784300" y="2193829"/>
            <a:ext cx="5093756" cy="339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3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5DC83C-9ECF-FAF0-BC44-AF675FB6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E749974-C810-DDD9-7D99-F79C6FDF8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920" y="1664761"/>
            <a:ext cx="10238784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(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https://qiskit.org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quantum computing framework by IBM.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libraries to simulate and run quantum circuits.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QRNG experiments using quantum measurement outcomes.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with Python for randomness analysis.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NIST SP 800-22 Statistical Test Suite (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https://csrc.nist.gov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benchmark for testing randomness quality.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15+ statistical tests (Frequency, Runs, FFT, etc.).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random numbers are unbiased and unpredictable.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accepted in cryptography and security validation.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5C977-492E-046D-7211-E9762F820B2F}"/>
              </a:ext>
            </a:extLst>
          </p:cNvPr>
          <p:cNvSpPr txBox="1"/>
          <p:nvPr/>
        </p:nvSpPr>
        <p:spPr>
          <a:xfrm>
            <a:off x="2984800" y="1095375"/>
            <a:ext cx="58613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Key Points from References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76AE2D-DE05-296B-D952-A7A3F4F93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306E1-154F-6E10-CA92-E6B8A1B1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E0638B-45A4-1942-8807-AD9FC86EF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F3FFF71-B68B-55F9-ED16-4EE519E4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D3417-674E-FEF4-28CE-293E80D4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7E23116-00D6-3F66-39E9-7A83C62F7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993E0A-A8C3-9F2D-2CA9-6E653893AD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854F64D-C482-3CB6-C8DD-BB27010D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138" y="1752039"/>
            <a:ext cx="10311936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Quantum Random Number Generation – Review Papers (Nature, IEEE)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QRNG leverages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uncertainty (superposition/measurement)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randomness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algorithmic PRNGs.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cryptography, secure communications, and simulations.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as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future-proof solution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cybersecurity.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GitHub – Randomness Extractors &amp; Open-Source RNGs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projects for randomness extraction and testing.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remove bias/noise from raw quantum data.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integrating QRNG into real-world applications.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community-driven implementations and validation.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DE4AA-E566-21B9-240A-3C8873DF71ED}"/>
              </a:ext>
            </a:extLst>
          </p:cNvPr>
          <p:cNvSpPr txBox="1"/>
          <p:nvPr/>
        </p:nvSpPr>
        <p:spPr>
          <a:xfrm>
            <a:off x="2643124" y="1095375"/>
            <a:ext cx="6094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Key Points from References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369D5-6725-FFA9-9EE6-57436F0AE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1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81FC9-09D0-9B45-21E6-E4E65CCE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883CAE-7A57-8049-2A59-D2D6DE217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C4584-0A40-AD4E-87BB-379FFEE9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FFB96A-3E84-E950-DAB1-0BD591C8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84A4B1-0342-6C76-CCC2-B442141579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C82C1A-A754-D3CC-9B4F-2AF0B5595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88" y="37292"/>
            <a:ext cx="1068416" cy="10684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CE9ED3-464E-1184-72B0-1FD5CF54C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664" y="571500"/>
            <a:ext cx="9744768" cy="5688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B6E699-0DF4-C115-CDC8-FF4B593BFCD3}"/>
              </a:ext>
            </a:extLst>
          </p:cNvPr>
          <p:cNvSpPr txBox="1"/>
          <p:nvPr/>
        </p:nvSpPr>
        <p:spPr>
          <a:xfrm>
            <a:off x="8917896" y="5574309"/>
            <a:ext cx="368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---FROM </a:t>
            </a:r>
          </a:p>
          <a:p>
            <a:r>
              <a:rPr lang="en-US" b="1" dirty="0">
                <a:solidFill>
                  <a:srgbClr val="002060"/>
                </a:solidFill>
              </a:rPr>
              <a:t>	SKY HIGH CODERS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698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7716</TotalTime>
  <Words>740</Words>
  <Application>Microsoft Office PowerPoint</Application>
  <PresentationFormat>Widescreen</PresentationFormat>
  <Paragraphs>125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Amaravati Quantum Valley  Hackathon 2025</vt:lpstr>
      <vt:lpstr> IDEA TITLE</vt:lpstr>
      <vt:lpstr>TECHNICAL APPROACH</vt:lpstr>
      <vt:lpstr>ADVANTAGES &amp; DISADVANTAGES</vt:lpstr>
      <vt:lpstr>FEASIBILITY AND VIABILITY</vt:lpstr>
      <vt:lpstr>IMPACT AND BENEFITS</vt:lpstr>
      <vt:lpstr>WHAT THE GRAPH DESCRIBING</vt:lpstr>
      <vt:lpstr>RESEARCH  AND REFERENCES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Charith Pulaganti</cp:lastModifiedBy>
  <cp:revision>165</cp:revision>
  <dcterms:created xsi:type="dcterms:W3CDTF">2013-12-12T18:46:50Z</dcterms:created>
  <dcterms:modified xsi:type="dcterms:W3CDTF">2026-01-06T10:26:07Z</dcterms:modified>
  <cp:category/>
</cp:coreProperties>
</file>