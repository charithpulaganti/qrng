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0"/>
  </p:notesMasterIdLst>
  <p:sldIdLst>
    <p:sldId id="291" r:id="rId2"/>
    <p:sldId id="281" r:id="rId3"/>
    <p:sldId id="290" r:id="rId4"/>
    <p:sldId id="293" r:id="rId5"/>
    <p:sldId id="294" r:id="rId6"/>
    <p:sldId id="297" r:id="rId7"/>
    <p:sldId id="296" r:id="rId8"/>
    <p:sldId id="298" r:id="rId9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FF649-47F5-A338-E960-F25CF807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2DE488AA-DE99-B078-31AF-C093CD7F12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E15A0850-8E2A-A048-4273-D851DC6B9FA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163B81BF-AECF-DFC0-9836-DB4DC13D9E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63233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7D04A-2640-BCFA-BEB9-93CFA1C11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9698FD96-FDDF-BA9F-8373-92A610DFF1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330AAD8E-680B-8E10-0F51-3F147EB2087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0F75285-D1BD-CEE2-3AB6-F5516EB249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0667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9/22/2025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9/22/2025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9/22/2025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csrc.nist.gov/" TargetMode="External"/><Relationship Id="rId4" Type="http://schemas.openxmlformats.org/officeDocument/2006/relationships/hyperlink" Target="https://qiskit.org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524000" y="890898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432685" y="376393"/>
            <a:ext cx="7326630" cy="726357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Amaravati Quantum Valley </a:t>
            </a:r>
            <a:br>
              <a:rPr lang="en-US" sz="40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Hackathon 2025</a:t>
            </a:r>
            <a:endParaRPr lang="en-IN" sz="40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5" y="2076450"/>
            <a:ext cx="6611573" cy="43173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ID –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AQVH910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Title-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Random Number Generator for Secure Applications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Theme-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Computing &amp; Cybersecurity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PS Category-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ID-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C-27674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SKY HIGH CODERS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CAEEB1-E7BA-82E6-83CB-25556EF81E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111" t="20049" r="21889" b="12417"/>
          <a:stretch>
            <a:fillRect/>
          </a:stretch>
        </p:blipFill>
        <p:spPr>
          <a:xfrm>
            <a:off x="7918296" y="2254048"/>
            <a:ext cx="2513346" cy="28769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EB7E12-24C5-0C70-AC91-944DA1AB2B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45C4B48-32BD-A975-7B60-F41EB42409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138F95B-1959-015C-AA1B-1B0A286DD2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751F96-F8FB-AC29-AC4D-974554CDF09E}"/>
              </a:ext>
            </a:extLst>
          </p:cNvPr>
          <p:cNvSpPr txBox="1"/>
          <p:nvPr/>
        </p:nvSpPr>
        <p:spPr>
          <a:xfrm>
            <a:off x="329773" y="1203608"/>
            <a:ext cx="11641339" cy="49823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Random Number Generator (QRNG) with Bias Reduction &amp; Randomness Testing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Building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RNG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Qiskit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(Hadamard gates).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Apply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extractors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(e.g., Von Neumann) to remove bias.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Perform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NIST-inspired statistical randomness tests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Provide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key generator (256-bit)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encryption.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Interactive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 dashboard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visualization &amp; usability.</a:t>
            </a:r>
          </a:p>
          <a:p>
            <a:pPr>
              <a:lnSpc>
                <a:spcPct val="150000"/>
              </a:lnSpc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Innovation &amp; Uniqueness: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Combines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entropy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bias correction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Integrated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suite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analytics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one tool.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Ready for practical use in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cryptography &amp; secure apps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0640075-505D-0505-9B2A-141C84F76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5496" y="2566361"/>
            <a:ext cx="51435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0F45559-32EC-F1C4-EB14-1CE9089C9588}"/>
              </a:ext>
            </a:extLst>
          </p:cNvPr>
          <p:cNvSpPr txBox="1"/>
          <p:nvPr/>
        </p:nvSpPr>
        <p:spPr>
          <a:xfrm>
            <a:off x="6635496" y="3172250"/>
            <a:ext cx="609447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Prototype Flow</a:t>
            </a:r>
            <a:r>
              <a:rPr lang="en-IN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3ACCF1-8C6C-1E5B-8DD6-E8632BBEC0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85D3A41-DA02-7039-DCFD-C367F543EC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8" name="Rectangle 2">
            <a:extLst>
              <a:ext uri="{FF2B5EF4-FFF2-40B4-BE49-F238E27FC236}">
                <a16:creationId xmlns:a16="http://schemas.microsoft.com/office/drawing/2014/main" id="{03C60507-6FD2-B492-83D1-529DE76D1E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4525" y="1344110"/>
            <a:ext cx="6611350" cy="13814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Languages/Frameworks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Backend → </a:t>
            </a:r>
            <a:r>
              <a:rPr kumimoji="0" lang="en-US" altLang="en-US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Python packages(NumPy, SciPy, </a:t>
            </a:r>
            <a:r>
              <a:rPr kumimoji="0" lang="en-US" altLang="en-US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Qiskit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Frontend → 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React, Tailwind, Chart.js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B07F98-9703-DE79-64F2-BE7FC575B9EC}"/>
              </a:ext>
            </a:extLst>
          </p:cNvPr>
          <p:cNvSpPr txBox="1"/>
          <p:nvPr/>
        </p:nvSpPr>
        <p:spPr>
          <a:xfrm>
            <a:off x="466344" y="2972564"/>
            <a:ext cx="54772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28E5C4-F9DC-36CB-EDEE-F45AD6A83C16}"/>
              </a:ext>
            </a:extLst>
          </p:cNvPr>
          <p:cNvSpPr txBox="1"/>
          <p:nvPr/>
        </p:nvSpPr>
        <p:spPr>
          <a:xfrm>
            <a:off x="6248402" y="2972564"/>
            <a:ext cx="54772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Disadvantages</a:t>
            </a:r>
            <a:endParaRPr lang="en-IN" sz="2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5FEDB3-F291-A81C-2D80-015FC764A2E2}"/>
              </a:ext>
            </a:extLst>
          </p:cNvPr>
          <p:cNvSpPr txBox="1"/>
          <p:nvPr/>
        </p:nvSpPr>
        <p:spPr>
          <a:xfrm>
            <a:off x="547273" y="3341896"/>
            <a:ext cx="4794504" cy="2535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Truly random – cannot be predicted or reproduced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Full security – no algorithm, no patterns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Open source – can integrate into any platform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Bias-free randomness for reliable results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Future-ready for AI, IoT, blockchain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A8341C-D085-6474-0755-2133E968BF94}"/>
              </a:ext>
            </a:extLst>
          </p:cNvPr>
          <p:cNvSpPr txBox="1"/>
          <p:nvPr/>
        </p:nvSpPr>
        <p:spPr>
          <a:xfrm>
            <a:off x="6412230" y="3429000"/>
            <a:ext cx="6094476" cy="2120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Time consuming to generate fully secure random numbers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May depend on specialized quantum hardware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Scalability challenges for large-scale use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Higher cost compared to free PRNGs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Still not widely standardized or adopted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8F7548-99C2-9569-A59B-4B7FF304E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40066F5-EDE2-6F69-6A26-6FEC7B66E2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B43B6BC1-F638-A2B4-AF81-064CDABA8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186497"/>
            <a:ext cx="6249733" cy="5305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Feasibility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Works on simulators 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Qiskit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Aer) or real IBMQ hardware.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Lightweight deployment (Python + Node).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Large bit generation → time-consuming.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Limited access to quantum hardware.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Statistical test false negatives.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Mitigation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Use efficient simulators for hackathon demo.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Allow configurable sample sizes.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Apply extractor + multiple tests to ensure quality.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4057A4E-5F0B-4943-635E-22EB42C91A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4326" y="2042712"/>
            <a:ext cx="5417673" cy="201722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BFFD23-1AD6-E42C-E954-10523D83D1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9417" y="4397021"/>
            <a:ext cx="4220164" cy="168616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BB647FF-D868-0E21-AE1B-E841FF4EB907}"/>
              </a:ext>
            </a:extLst>
          </p:cNvPr>
          <p:cNvSpPr txBox="1"/>
          <p:nvPr/>
        </p:nvSpPr>
        <p:spPr>
          <a:xfrm>
            <a:off x="6859333" y="1798849"/>
            <a:ext cx="427024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INTERFACE OF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QRNG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3C053E-4A24-9146-E0D3-0A60A4BF005B}"/>
              </a:ext>
            </a:extLst>
          </p:cNvPr>
          <p:cNvSpPr txBox="1"/>
          <p:nvPr/>
        </p:nvSpPr>
        <p:spPr>
          <a:xfrm>
            <a:off x="6909417" y="3849624"/>
            <a:ext cx="42702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Randomly generated 256-bit key</a:t>
            </a:r>
            <a:endParaRPr lang="en-IN" sz="22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0EA6588-278E-B2C5-9DC2-8577E21BE8AB}"/>
              </a:ext>
            </a:extLst>
          </p:cNvPr>
          <p:cNvCxnSpPr/>
          <p:nvPr/>
        </p:nvCxnSpPr>
        <p:spPr>
          <a:xfrm>
            <a:off x="6693408" y="1095375"/>
            <a:ext cx="0" cy="51682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BF45CF76-93A4-A792-141C-72C7D63A3E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32876C-4511-C633-ABA1-E871E20234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B905EC4-9DB6-9FC8-A2DE-FA57AD9FB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189" y="1491803"/>
            <a:ext cx="6436788" cy="38743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Target Audience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Cybersecurity, FinTech, AI, Research.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Benefits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Security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Provides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true randomness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→ stronger cryptography.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lang="en-US" alt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Transparency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Users can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visualize and test randomness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Scalability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Can integrate into existing apps via API.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Educational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Teaches quantum randomness &amp; bias correction.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0A7D1CC-0380-ACEB-FBDC-CE6D8E5B6C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3753" y="2945357"/>
            <a:ext cx="4268647" cy="311692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FD6BC61-5511-ED7A-1BFF-3122908CAC5F}"/>
              </a:ext>
            </a:extLst>
          </p:cNvPr>
          <p:cNvSpPr txBox="1"/>
          <p:nvPr/>
        </p:nvSpPr>
        <p:spPr>
          <a:xfrm>
            <a:off x="6912315" y="2325663"/>
            <a:ext cx="526372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Sample screenshot of the application usage</a:t>
            </a:r>
            <a:endParaRPr lang="en-IN" sz="22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8DC7930-C60C-1D14-A03B-6C6C3EFA6ED3}"/>
              </a:ext>
            </a:extLst>
          </p:cNvPr>
          <p:cNvCxnSpPr/>
          <p:nvPr/>
        </p:nvCxnSpPr>
        <p:spPr>
          <a:xfrm>
            <a:off x="6611112" y="1143000"/>
            <a:ext cx="0" cy="50383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E74D61F6-6383-7143-95CA-F80119FB63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C5C41-0984-1A3B-7BA2-14B1AD49B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155421A-2CA3-0BC0-6B90-93C4D8C565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FDF3071F-91AC-0F81-A5DE-B7DA01DA3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130573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WHAT THE GRAPH DESCRIBING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058FA-9424-980D-2A20-D7249B601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A7F08B9-9512-06FE-3BB5-2A252D24A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91BD6E-4FA7-0A9E-74FD-A21370D79E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DA602CC-540A-9FA0-0F01-FA51F18124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189" y="1534573"/>
            <a:ext cx="6436788" cy="37888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defTabSz="914400" eaLnBrk="0" hangingPunct="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graph is showing the “block frequency test” results.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defTabSz="914400" eaLnBrk="0" hangingPunct="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randomness testing, your sequence of bits (like 010101...) is split into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fixed size (here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block_size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128 bits).</a:t>
            </a:r>
          </a:p>
          <a:p>
            <a:pPr marL="342900" indent="-342900" defTabSz="914400" eaLnBrk="0" hangingPunct="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counts how many 1s and 0s appear.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defTabSz="914400" eaLnBrk="0" hangingPunct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computes the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balance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(ratio of 1s vs block size).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>
              <a:lnSpc>
                <a:spcPct val="150000"/>
              </a:lnSpc>
              <a:buFont typeface="+mj-lt"/>
              <a:buAutoNum type="alphaLcParenR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block has exactly half 1s and half 0s, the balance is 0.5.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>
              <a:lnSpc>
                <a:spcPct val="150000"/>
              </a:lnSpc>
              <a:buFont typeface="+mj-lt"/>
              <a:buAutoNum type="alphaLcParenR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it’s skewed more towards 1s, balance &gt; 0.5.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>
              <a:lnSpc>
                <a:spcPct val="150000"/>
              </a:lnSpc>
              <a:buFont typeface="+mj-lt"/>
              <a:buAutoNum type="alphaLcParenR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it’s skewed more towards 0s, balance &lt; 0.5.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991B7C-7F72-BE05-2458-14D0DD2447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7074" y="2442437"/>
            <a:ext cx="4268647" cy="311692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B0A9133-32C8-9C33-0D18-0621B0FA5E80}"/>
              </a:ext>
            </a:extLst>
          </p:cNvPr>
          <p:cNvSpPr txBox="1"/>
          <p:nvPr/>
        </p:nvSpPr>
        <p:spPr>
          <a:xfrm>
            <a:off x="6784299" y="1762941"/>
            <a:ext cx="526372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Sample screenshot of the application usage</a:t>
            </a:r>
            <a:endParaRPr lang="en-IN" sz="22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B15F0A-F621-06B1-0526-7452BD98F39D}"/>
              </a:ext>
            </a:extLst>
          </p:cNvPr>
          <p:cNvCxnSpPr/>
          <p:nvPr/>
        </p:nvCxnSpPr>
        <p:spPr>
          <a:xfrm>
            <a:off x="6611112" y="1143000"/>
            <a:ext cx="0" cy="50383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98B1B7EC-C667-D821-35D1-BB3E3EA4B9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33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25DC83C-9ECF-FAF0-BC44-AF675FB625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0E749974-C810-DDD9-7D99-F79C6FDF8D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5920" y="1664761"/>
            <a:ext cx="10238784" cy="46130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Qiskit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Documentation (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https://qiskit.org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Open-source quantum computing framework by IBM.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libraries to simulate and run quantum circuits.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QRNG experiments using quantum measurement outcomes.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integration with Python for randomness analysis.</a:t>
            </a:r>
          </a:p>
          <a:p>
            <a:pPr>
              <a:lnSpc>
                <a:spcPct val="150000"/>
              </a:lnSpc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NIST SP 800-22 Statistical Test Suite (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https://csrc.nist.gov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 benchmark for testing randomness quality.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15+ statistical tests (Frequency, Runs, FFT, etc.).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Ensures random numbers are unbiased and unpredictable.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accepted in cryptography and security validation.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B5C977-492E-046D-7211-E9762F820B2F}"/>
              </a:ext>
            </a:extLst>
          </p:cNvPr>
          <p:cNvSpPr txBox="1"/>
          <p:nvPr/>
        </p:nvSpPr>
        <p:spPr>
          <a:xfrm>
            <a:off x="2984800" y="1095375"/>
            <a:ext cx="586130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📚 Key Points from References</a:t>
            </a:r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76AE2D-DE05-296B-D952-A7A3F4F933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306E1-154F-6E10-CA92-E6B8A1B12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9E0638B-45A4-1942-8807-AD9FC86EF5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3F3FFF71-B68B-55F9-ED16-4EE519E48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D3417-674E-FEF4-28CE-293E80D47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7E23116-00D6-3F66-39E9-7A83C62F7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2993E0A-A8C3-9F2D-2CA9-6E653893AD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B854F64D-C482-3CB6-C8DD-BB27010D3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138" y="1752039"/>
            <a:ext cx="10311936" cy="46130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Quantum Random Number Generation – Review Papers (Nature, IEEE)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QRNG leverages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uncertainty (superposition/measurement)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 randomness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vs. algorithmic PRNGs.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in cryptography, secure communications, and simulations.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Highlighted as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future-proof solution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cybersecurity.</a:t>
            </a:r>
          </a:p>
          <a:p>
            <a:pPr>
              <a:lnSpc>
                <a:spcPct val="150000"/>
              </a:lnSpc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GitHub – Randomness Extractors &amp; Open-Source RNGs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Open-source projects for randomness extraction and testing.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remove bias/noise from raw quantum data.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Useful for integrating QRNG into real-world applications.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Demonstrates community-driven implementations and validation.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5DE4AA-E566-21B9-240A-3C8873DF71ED}"/>
              </a:ext>
            </a:extLst>
          </p:cNvPr>
          <p:cNvSpPr txBox="1"/>
          <p:nvPr/>
        </p:nvSpPr>
        <p:spPr>
          <a:xfrm>
            <a:off x="2643124" y="1095375"/>
            <a:ext cx="609447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📚 Key Points from References</a:t>
            </a:r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E369D5-6725-FFA9-9EE6-57436F0AEB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9184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7597</TotalTime>
  <Words>723</Words>
  <Application>Microsoft Office PowerPoint</Application>
  <PresentationFormat>Widescreen</PresentationFormat>
  <Paragraphs>116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ＭＳ Ｐゴシック</vt:lpstr>
      <vt:lpstr>Arial</vt:lpstr>
      <vt:lpstr>Calibri</vt:lpstr>
      <vt:lpstr>Times New Roman</vt:lpstr>
      <vt:lpstr>TradeGothic</vt:lpstr>
      <vt:lpstr>Wingdings</vt:lpstr>
      <vt:lpstr>Office Theme</vt:lpstr>
      <vt:lpstr>Amaravati Quantum Valley  Hackathon 2025</vt:lpstr>
      <vt:lpstr> IDEA TITLE</vt:lpstr>
      <vt:lpstr>TECHNICAL APPROACH</vt:lpstr>
      <vt:lpstr>FEASIBILITY AND VIABILITY</vt:lpstr>
      <vt:lpstr>IMPACT AND BENEFITS</vt:lpstr>
      <vt:lpstr>WHAT THE GRAPH DESCRIBING</vt:lpstr>
      <vt:lpstr>RESEARCH  AND REFERENCES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Pulaganti Charith</cp:lastModifiedBy>
  <cp:revision>160</cp:revision>
  <dcterms:created xsi:type="dcterms:W3CDTF">2013-12-12T18:46:50Z</dcterms:created>
  <dcterms:modified xsi:type="dcterms:W3CDTF">2025-09-22T02:31:43Z</dcterms:modified>
  <cp:category/>
</cp:coreProperties>
</file>